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6" r:id="rId1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640080"/>
            <a:ext cx="1371600" cy="1371600"/>
          </a:xfrm>
          <a:prstGeom prst="ellipse">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0" y="1828800"/>
            <a:ext cx="594360" cy="594360"/>
          </a:xfrm>
          <a:prstGeom prst="ellipse">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0" y="5394960"/>
            <a:ext cx="914400" cy="914400"/>
          </a:xfrm>
          <a:prstGeom prst="ellipse">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8595360" cy="1280160"/>
          </a:xfrm>
          <a:prstGeom prst="rect">
            <a:avLst/>
          </a:prstGeom>
          <a:noFill/>
        </p:spPr>
        <p:txBody>
          <a:bodyPr wrap="none">
            <a:spAutoFit/>
          </a:bodyPr>
          <a:lstStyle/>
          <a:p>
            <a:pPr>
              <a:defRPr sz="4200" b="1">
                <a:solidFill>
                  <a:srgbClr val="1E2A26"/>
                </a:solidFill>
                <a:latin typeface="Aptos Display"/>
              </a:defRPr>
            </a:pPr>
            <a:r>
              <a:t>PLANTATION</a:t>
            </a:r>
            <a:br/>
            <a:r>
              <a:t>TRACKING SYSTEM</a:t>
            </a:r>
          </a:p>
        </p:txBody>
      </p:sp>
      <p:sp>
        <p:nvSpPr>
          <p:cNvPr id="7" name="TextBox 6"/>
          <p:cNvSpPr txBox="1"/>
          <p:nvPr/>
        </p:nvSpPr>
        <p:spPr>
          <a:xfrm>
            <a:off x="868680" y="2971800"/>
            <a:ext cx="7315200" cy="502920"/>
          </a:xfrm>
          <a:prstGeom prst="rect">
            <a:avLst/>
          </a:prstGeom>
          <a:noFill/>
        </p:spPr>
        <p:txBody>
          <a:bodyPr wrap="none">
            <a:spAutoFit/>
          </a:bodyPr>
          <a:lstStyle/>
          <a:p>
            <a:pPr>
              <a:defRPr sz="2000" b="1">
                <a:solidFill>
                  <a:srgbClr val="1C6641"/>
                </a:solidFill>
                <a:latin typeface="Aptos"/>
              </a:defRPr>
            </a:pPr>
            <a:r>
              <a:t>CAPSTONE PROJECT</a:t>
            </a:r>
          </a:p>
        </p:txBody>
      </p:sp>
      <p:sp>
        <p:nvSpPr>
          <p:cNvPr id="8" name="TextBox 7"/>
          <p:cNvSpPr txBox="1"/>
          <p:nvPr/>
        </p:nvSpPr>
        <p:spPr>
          <a:xfrm>
            <a:off x="868680" y="3657600"/>
            <a:ext cx="8046720" cy="914400"/>
          </a:xfrm>
          <a:prstGeom prst="rect">
            <a:avLst/>
          </a:prstGeom>
          <a:noFill/>
        </p:spPr>
        <p:txBody>
          <a:bodyPr wrap="none">
            <a:spAutoFit/>
          </a:bodyPr>
          <a:lstStyle/>
          <a:p>
            <a:pPr>
              <a:defRPr sz="1800">
                <a:solidFill>
                  <a:srgbClr val="5D6C65"/>
                </a:solidFill>
                <a:latin typeface="Aptos"/>
              </a:defRPr>
            </a:pPr>
            <a:r>
              <a:t>A centralized web application for tracking plantations from planting to harvesting.</a:t>
            </a:r>
          </a:p>
        </p:txBody>
      </p:sp>
      <p:sp>
        <p:nvSpPr>
          <p:cNvPr id="9" name="TextBox 8"/>
          <p:cNvSpPr txBox="1"/>
          <p:nvPr/>
        </p:nvSpPr>
        <p:spPr>
          <a:xfrm>
            <a:off x="868680" y="5074920"/>
            <a:ext cx="6400800" cy="457200"/>
          </a:xfrm>
          <a:prstGeom prst="rect">
            <a:avLst/>
          </a:prstGeom>
          <a:noFill/>
        </p:spPr>
        <p:txBody>
          <a:bodyPr wrap="none">
            <a:spAutoFit/>
          </a:bodyPr>
          <a:lstStyle/>
          <a:p>
            <a:pPr>
              <a:defRPr sz="1500">
                <a:solidFill>
                  <a:srgbClr val="1C6641"/>
                </a:solidFill>
                <a:latin typeface="Aptos"/>
              </a:defRPr>
            </a:pPr>
            <a:r>
              <a:t>Java • Spring Boot • Angular • MySQL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Project Overview</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03</a:t>
            </a:r>
          </a:p>
        </p:txBody>
      </p:sp>
      <p:sp>
        <p:nvSpPr>
          <p:cNvPr id="6" name="TextBox 5"/>
          <p:cNvSpPr txBox="1"/>
          <p:nvPr/>
        </p:nvSpPr>
        <p:spPr>
          <a:xfrm>
            <a:off x="777240" y="1325880"/>
            <a:ext cx="10515600" cy="5029200"/>
          </a:xfrm>
          <a:prstGeom prst="rect">
            <a:avLst/>
          </a:prstGeom>
          <a:noFill/>
        </p:spPr>
        <p:txBody>
          <a:bodyPr wrap="square">
            <a:spAutoFit/>
          </a:bodyPr>
          <a:lstStyle/>
          <a:p>
            <a:pPr>
              <a:spcAft>
                <a:spcPts val="1200"/>
              </a:spcAft>
              <a:defRPr sz="2100">
                <a:solidFill>
                  <a:srgbClr val="1E2A26"/>
                </a:solidFill>
                <a:latin typeface="Aptos"/>
              </a:defRPr>
            </a:pPr>
            <a:r>
              <a:t>Digital platform to register, monitor, and manage plantations.</a:t>
            </a:r>
          </a:p>
          <a:p>
            <a:pPr>
              <a:spcAft>
                <a:spcPts val="1200"/>
              </a:spcAft>
              <a:defRPr sz="2100">
                <a:solidFill>
                  <a:srgbClr val="1E2A26"/>
                </a:solidFill>
                <a:latin typeface="Aptos"/>
              </a:defRPr>
            </a:pPr>
            <a:r>
              <a:t>Tracks the complete plantation lifecycle from planting to harvesting.</a:t>
            </a:r>
          </a:p>
          <a:p>
            <a:pPr>
              <a:spcAft>
                <a:spcPts val="1200"/>
              </a:spcAft>
              <a:defRPr sz="2100">
                <a:solidFill>
                  <a:srgbClr val="1E2A26"/>
                </a:solidFill>
                <a:latin typeface="Aptos"/>
              </a:defRPr>
            </a:pPr>
            <a:r>
              <a:t>Maintains growth, maintenance, disease, and harvest records.</a:t>
            </a:r>
          </a:p>
          <a:p>
            <a:pPr>
              <a:spcAft>
                <a:spcPts val="1200"/>
              </a:spcAft>
              <a:defRPr sz="2100">
                <a:solidFill>
                  <a:srgbClr val="1E2A26"/>
                </a:solidFill>
                <a:latin typeface="Aptos"/>
              </a:defRPr>
            </a:pPr>
            <a:r>
              <a:t>Provides centralized information for efficient plantation management.</a:t>
            </a:r>
          </a:p>
        </p:txBody>
      </p:sp>
      <p:sp>
        <p:nvSpPr>
          <p:cNvPr id="7" name="Rounded Rectangle 6"/>
          <p:cNvSpPr/>
          <p:nvPr/>
        </p:nvSpPr>
        <p:spPr>
          <a:xfrm>
            <a:off x="502920" y="498348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Register</a:t>
            </a:r>
          </a:p>
        </p:txBody>
      </p:sp>
      <p:sp>
        <p:nvSpPr>
          <p:cNvPr id="8" name="Chevron 7"/>
          <p:cNvSpPr/>
          <p:nvPr/>
        </p:nvSpPr>
        <p:spPr>
          <a:xfrm>
            <a:off x="2670048" y="521208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61488" y="498348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Track Growth</a:t>
            </a:r>
          </a:p>
        </p:txBody>
      </p:sp>
      <p:sp>
        <p:nvSpPr>
          <p:cNvPr id="10" name="Chevron 9"/>
          <p:cNvSpPr/>
          <p:nvPr/>
        </p:nvSpPr>
        <p:spPr>
          <a:xfrm>
            <a:off x="4928616" y="521208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0056" y="498348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Maintain</a:t>
            </a:r>
          </a:p>
        </p:txBody>
      </p:sp>
      <p:sp>
        <p:nvSpPr>
          <p:cNvPr id="12" name="Chevron 11"/>
          <p:cNvSpPr/>
          <p:nvPr/>
        </p:nvSpPr>
        <p:spPr>
          <a:xfrm>
            <a:off x="7187184" y="521208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278624" y="498348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Monitor Health</a:t>
            </a:r>
          </a:p>
        </p:txBody>
      </p:sp>
      <p:sp>
        <p:nvSpPr>
          <p:cNvPr id="14" name="Chevron 13"/>
          <p:cNvSpPr/>
          <p:nvPr/>
        </p:nvSpPr>
        <p:spPr>
          <a:xfrm>
            <a:off x="9445752" y="521208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37192" y="498348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Harvest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Problem Statement &amp; Objectives</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04</a:t>
            </a:r>
          </a:p>
        </p:txBody>
      </p:sp>
      <p:sp>
        <p:nvSpPr>
          <p:cNvPr id="6" name="Rounded Rectangle 5"/>
          <p:cNvSpPr/>
          <p:nvPr/>
        </p:nvSpPr>
        <p:spPr>
          <a:xfrm>
            <a:off x="640080" y="1325880"/>
            <a:ext cx="5303520" cy="448056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90472"/>
            <a:ext cx="4846320" cy="4160520"/>
          </a:xfrm>
          <a:prstGeom prst="rect">
            <a:avLst/>
          </a:prstGeom>
          <a:noFill/>
        </p:spPr>
        <p:txBody>
          <a:bodyPr wrap="none">
            <a:spAutoFit/>
          </a:bodyPr>
          <a:lstStyle/>
          <a:p>
            <a:pPr>
              <a:defRPr sz="1900" b="1">
                <a:solidFill>
                  <a:srgbClr val="1C6641"/>
                </a:solidFill>
                <a:latin typeface="Aptos Display"/>
              </a:defRPr>
            </a:pPr>
            <a:r>
              <a:t>Current Problems</a:t>
            </a:r>
          </a:p>
          <a:p>
            <a:pPr>
              <a:spcAft>
                <a:spcPts val="700"/>
              </a:spcAft>
              <a:defRPr sz="1400">
                <a:solidFill>
                  <a:srgbClr val="1E2A26"/>
                </a:solidFill>
                <a:latin typeface="Aptos"/>
              </a:defRPr>
            </a:pPr>
            <a:r>
              <a:t>• Manual plantation records</a:t>
            </a:r>
          </a:p>
          <a:p>
            <a:pPr>
              <a:spcAft>
                <a:spcPts val="700"/>
              </a:spcAft>
              <a:defRPr sz="1400">
                <a:solidFill>
                  <a:srgbClr val="1E2A26"/>
                </a:solidFill>
                <a:latin typeface="Aptos"/>
              </a:defRPr>
            </a:pPr>
            <a:r>
              <a:t>• Difficulty tracking growth</a:t>
            </a:r>
          </a:p>
          <a:p>
            <a:pPr>
              <a:spcAft>
                <a:spcPts val="700"/>
              </a:spcAft>
              <a:defRPr sz="1400">
                <a:solidFill>
                  <a:srgbClr val="1E2A26"/>
                </a:solidFill>
                <a:latin typeface="Aptos"/>
              </a:defRPr>
            </a:pPr>
            <a:r>
              <a:t>• Scattered maintenance information</a:t>
            </a:r>
          </a:p>
          <a:p>
            <a:pPr>
              <a:spcAft>
                <a:spcPts val="700"/>
              </a:spcAft>
              <a:defRPr sz="1400">
                <a:solidFill>
                  <a:srgbClr val="1E2A26"/>
                </a:solidFill>
                <a:latin typeface="Aptos"/>
              </a:defRPr>
            </a:pPr>
            <a:r>
              <a:t>• Hard to monitor diseases and treatments</a:t>
            </a:r>
          </a:p>
          <a:p>
            <a:pPr>
              <a:spcAft>
                <a:spcPts val="700"/>
              </a:spcAft>
              <a:defRPr sz="1400">
                <a:solidFill>
                  <a:srgbClr val="1E2A26"/>
                </a:solidFill>
                <a:latin typeface="Aptos"/>
              </a:defRPr>
            </a:pPr>
            <a:r>
              <a:t>• Historical data is difficult to analyze</a:t>
            </a:r>
          </a:p>
        </p:txBody>
      </p:sp>
      <p:sp>
        <p:nvSpPr>
          <p:cNvPr id="8" name="Rounded Rectangle 7"/>
          <p:cNvSpPr/>
          <p:nvPr/>
        </p:nvSpPr>
        <p:spPr>
          <a:xfrm>
            <a:off x="6263640" y="1325880"/>
            <a:ext cx="5303520" cy="448056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90472"/>
            <a:ext cx="4846320" cy="4160520"/>
          </a:xfrm>
          <a:prstGeom prst="rect">
            <a:avLst/>
          </a:prstGeom>
          <a:noFill/>
        </p:spPr>
        <p:txBody>
          <a:bodyPr wrap="none">
            <a:spAutoFit/>
          </a:bodyPr>
          <a:lstStyle/>
          <a:p>
            <a:pPr>
              <a:defRPr sz="1900" b="1">
                <a:solidFill>
                  <a:srgbClr val="1C6641"/>
                </a:solidFill>
                <a:latin typeface="Aptos Display"/>
              </a:defRPr>
            </a:pPr>
            <a:r>
              <a:t>Project Objectives</a:t>
            </a:r>
          </a:p>
          <a:p>
            <a:pPr>
              <a:spcAft>
                <a:spcPts val="700"/>
              </a:spcAft>
              <a:defRPr sz="1400">
                <a:solidFill>
                  <a:srgbClr val="1E2A26"/>
                </a:solidFill>
                <a:latin typeface="Aptos"/>
              </a:defRPr>
            </a:pPr>
            <a:r>
              <a:t>• Digitize plantation records</a:t>
            </a:r>
          </a:p>
          <a:p>
            <a:pPr>
              <a:spcAft>
                <a:spcPts val="700"/>
              </a:spcAft>
              <a:defRPr sz="1400">
                <a:solidFill>
                  <a:srgbClr val="1E2A26"/>
                </a:solidFill>
                <a:latin typeface="Aptos"/>
              </a:defRPr>
            </a:pPr>
            <a:r>
              <a:t>• Track growth over time</a:t>
            </a:r>
          </a:p>
          <a:p>
            <a:pPr>
              <a:spcAft>
                <a:spcPts val="700"/>
              </a:spcAft>
              <a:defRPr sz="1400">
                <a:solidFill>
                  <a:srgbClr val="1E2A26"/>
                </a:solidFill>
                <a:latin typeface="Aptos"/>
              </a:defRPr>
            </a:pPr>
            <a:r>
              <a:t>• Record watering and fertilizer activities</a:t>
            </a:r>
          </a:p>
          <a:p>
            <a:pPr>
              <a:spcAft>
                <a:spcPts val="700"/>
              </a:spcAft>
              <a:defRPr sz="1400">
                <a:solidFill>
                  <a:srgbClr val="1E2A26"/>
                </a:solidFill>
                <a:latin typeface="Aptos"/>
              </a:defRPr>
            </a:pPr>
            <a:r>
              <a:t>• Monitor plant health and diseases</a:t>
            </a:r>
          </a:p>
          <a:p>
            <a:pPr>
              <a:spcAft>
                <a:spcPts val="700"/>
              </a:spcAft>
              <a:defRPr sz="1400">
                <a:solidFill>
                  <a:srgbClr val="1E2A26"/>
                </a:solidFill>
                <a:latin typeface="Aptos"/>
              </a:defRPr>
            </a:pPr>
            <a:r>
              <a:t>• Manage harvest information</a:t>
            </a:r>
          </a:p>
          <a:p>
            <a:pPr>
              <a:spcAft>
                <a:spcPts val="700"/>
              </a:spcAft>
              <a:defRPr sz="1400">
                <a:solidFill>
                  <a:srgbClr val="1E2A26"/>
                </a:solidFill>
                <a:latin typeface="Aptos"/>
              </a:defRPr>
            </a:pPr>
            <a:r>
              <a:t>• Centralize plantation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Proposed System</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05</a:t>
            </a:r>
          </a:p>
        </p:txBody>
      </p:sp>
      <p:sp>
        <p:nvSpPr>
          <p:cNvPr id="6" name="Rounded Rectangle 5"/>
          <p:cNvSpPr/>
          <p:nvPr/>
        </p:nvSpPr>
        <p:spPr>
          <a:xfrm>
            <a:off x="502920" y="1508760"/>
            <a:ext cx="1790700"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User Login</a:t>
            </a:r>
          </a:p>
        </p:txBody>
      </p:sp>
      <p:sp>
        <p:nvSpPr>
          <p:cNvPr id="7" name="Chevron 6"/>
          <p:cNvSpPr/>
          <p:nvPr/>
        </p:nvSpPr>
        <p:spPr>
          <a:xfrm>
            <a:off x="2293620" y="173736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85060" y="1508760"/>
            <a:ext cx="1790700"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Plantation Registration</a:t>
            </a:r>
          </a:p>
        </p:txBody>
      </p:sp>
      <p:sp>
        <p:nvSpPr>
          <p:cNvPr id="9" name="Chevron 8"/>
          <p:cNvSpPr/>
          <p:nvPr/>
        </p:nvSpPr>
        <p:spPr>
          <a:xfrm>
            <a:off x="4175760" y="173736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67199" y="1508760"/>
            <a:ext cx="1790700"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Growth Tracking</a:t>
            </a:r>
          </a:p>
        </p:txBody>
      </p:sp>
      <p:sp>
        <p:nvSpPr>
          <p:cNvPr id="11" name="Chevron 10"/>
          <p:cNvSpPr/>
          <p:nvPr/>
        </p:nvSpPr>
        <p:spPr>
          <a:xfrm>
            <a:off x="6057899" y="173736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49339" y="1508760"/>
            <a:ext cx="1790700"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Maintenance</a:t>
            </a:r>
          </a:p>
        </p:txBody>
      </p:sp>
      <p:sp>
        <p:nvSpPr>
          <p:cNvPr id="13" name="Chevron 12"/>
          <p:cNvSpPr/>
          <p:nvPr/>
        </p:nvSpPr>
        <p:spPr>
          <a:xfrm>
            <a:off x="7940039" y="173736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31480" y="1508760"/>
            <a:ext cx="1790700"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Health / Disease</a:t>
            </a:r>
          </a:p>
        </p:txBody>
      </p:sp>
      <p:sp>
        <p:nvSpPr>
          <p:cNvPr id="15" name="Chevron 14"/>
          <p:cNvSpPr/>
          <p:nvPr/>
        </p:nvSpPr>
        <p:spPr>
          <a:xfrm>
            <a:off x="9822180" y="173736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13620" y="1508760"/>
            <a:ext cx="1790700"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Harvest</a:t>
            </a:r>
          </a:p>
        </p:txBody>
      </p:sp>
      <p:sp>
        <p:nvSpPr>
          <p:cNvPr id="17" name="TextBox 16"/>
          <p:cNvSpPr txBox="1"/>
          <p:nvPr/>
        </p:nvSpPr>
        <p:spPr>
          <a:xfrm>
            <a:off x="777240" y="2971800"/>
            <a:ext cx="10515600" cy="5029200"/>
          </a:xfrm>
          <a:prstGeom prst="rect">
            <a:avLst/>
          </a:prstGeom>
          <a:noFill/>
        </p:spPr>
        <p:txBody>
          <a:bodyPr wrap="square">
            <a:spAutoFit/>
          </a:bodyPr>
          <a:lstStyle/>
          <a:p>
            <a:pPr>
              <a:spcAft>
                <a:spcPts val="1200"/>
              </a:spcAft>
              <a:defRPr sz="1800">
                <a:solidFill>
                  <a:srgbClr val="1E2A26"/>
                </a:solidFill>
                <a:latin typeface="Aptos"/>
              </a:defRPr>
            </a:pPr>
            <a:r>
              <a:t>Secure user authentication and centralized dashboard.</a:t>
            </a:r>
          </a:p>
          <a:p>
            <a:pPr>
              <a:spcAft>
                <a:spcPts val="1200"/>
              </a:spcAft>
              <a:defRPr sz="1800">
                <a:solidFill>
                  <a:srgbClr val="1E2A26"/>
                </a:solidFill>
                <a:latin typeface="Aptos"/>
              </a:defRPr>
            </a:pPr>
            <a:r>
              <a:t>CRUD operations for plantation records.</a:t>
            </a:r>
          </a:p>
          <a:p>
            <a:pPr>
              <a:spcAft>
                <a:spcPts val="1200"/>
              </a:spcAft>
              <a:defRPr sz="1800">
                <a:solidFill>
                  <a:srgbClr val="1E2A26"/>
                </a:solidFill>
                <a:latin typeface="Aptos"/>
              </a:defRPr>
            </a:pPr>
            <a:r>
              <a:t>Periodic growth and maintenance tracking.</a:t>
            </a:r>
          </a:p>
          <a:p>
            <a:pPr>
              <a:spcAft>
                <a:spcPts val="1200"/>
              </a:spcAft>
              <a:defRPr sz="1800">
                <a:solidFill>
                  <a:srgbClr val="1E2A26"/>
                </a:solidFill>
                <a:latin typeface="Aptos"/>
              </a:defRPr>
            </a:pPr>
            <a:r>
              <a:t>Disease and treatment history.</a:t>
            </a:r>
          </a:p>
          <a:p>
            <a:pPr>
              <a:spcAft>
                <a:spcPts val="1200"/>
              </a:spcAft>
              <a:defRPr sz="1800">
                <a:solidFill>
                  <a:srgbClr val="1E2A26"/>
                </a:solidFill>
                <a:latin typeface="Aptos"/>
              </a:defRPr>
            </a:pPr>
            <a:r>
              <a:t>Harvest tracking and plantation history.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System Architecture</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06</a:t>
            </a:r>
          </a:p>
        </p:txBody>
      </p:sp>
      <p:sp>
        <p:nvSpPr>
          <p:cNvPr id="6" name="Rounded Rectangle 5"/>
          <p:cNvSpPr/>
          <p:nvPr/>
        </p:nvSpPr>
        <p:spPr>
          <a:xfrm>
            <a:off x="502920" y="141732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USER</a:t>
            </a:r>
          </a:p>
        </p:txBody>
      </p:sp>
      <p:sp>
        <p:nvSpPr>
          <p:cNvPr id="7" name="Chevron 6"/>
          <p:cNvSpPr/>
          <p:nvPr/>
        </p:nvSpPr>
        <p:spPr>
          <a:xfrm>
            <a:off x="2670048" y="164592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61488" y="141732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ANGULAR</a:t>
            </a:r>
            <a:br/>
            <a:r>
              <a:t>FRONTEND</a:t>
            </a:r>
          </a:p>
        </p:txBody>
      </p:sp>
      <p:sp>
        <p:nvSpPr>
          <p:cNvPr id="9" name="Chevron 8"/>
          <p:cNvSpPr/>
          <p:nvPr/>
        </p:nvSpPr>
        <p:spPr>
          <a:xfrm>
            <a:off x="4928616" y="164592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0056" y="141732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REST API</a:t>
            </a:r>
          </a:p>
        </p:txBody>
      </p:sp>
      <p:sp>
        <p:nvSpPr>
          <p:cNvPr id="11" name="Chevron 10"/>
          <p:cNvSpPr/>
          <p:nvPr/>
        </p:nvSpPr>
        <p:spPr>
          <a:xfrm>
            <a:off x="7187184" y="164592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78624" y="141732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SPRING BOOT</a:t>
            </a:r>
            <a:br/>
            <a:r>
              <a:t>BACKEND</a:t>
            </a:r>
          </a:p>
        </p:txBody>
      </p:sp>
      <p:sp>
        <p:nvSpPr>
          <p:cNvPr id="13" name="Chevron 12"/>
          <p:cNvSpPr/>
          <p:nvPr/>
        </p:nvSpPr>
        <p:spPr>
          <a:xfrm>
            <a:off x="9445752" y="1645920"/>
            <a:ext cx="91440" cy="256032"/>
          </a:xfrm>
          <a:prstGeom prst="chevron">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37192" y="1417320"/>
            <a:ext cx="2167128" cy="713232"/>
          </a:xfrm>
          <a:prstGeom prst="roundRect">
            <a:avLst/>
          </a:prstGeom>
          <a:solidFill>
            <a:srgbClr val="E8F4EC"/>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C6641"/>
                </a:solidFill>
                <a:latin typeface="Aptos"/>
              </a:defRPr>
            </a:pPr>
            <a:r>
              <a:t>MYSQL</a:t>
            </a:r>
          </a:p>
        </p:txBody>
      </p:sp>
      <p:sp>
        <p:nvSpPr>
          <p:cNvPr id="15" name="Rounded Rectangle 14"/>
          <p:cNvSpPr/>
          <p:nvPr/>
        </p:nvSpPr>
        <p:spPr>
          <a:xfrm>
            <a:off x="731520" y="2880360"/>
            <a:ext cx="3429000" cy="228600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044952"/>
            <a:ext cx="2971800" cy="1965960"/>
          </a:xfrm>
          <a:prstGeom prst="rect">
            <a:avLst/>
          </a:prstGeom>
          <a:noFill/>
        </p:spPr>
        <p:txBody>
          <a:bodyPr wrap="none">
            <a:spAutoFit/>
          </a:bodyPr>
          <a:lstStyle/>
          <a:p>
            <a:pPr>
              <a:defRPr sz="1900" b="1">
                <a:solidFill>
                  <a:srgbClr val="1C6641"/>
                </a:solidFill>
                <a:latin typeface="Aptos Display"/>
              </a:defRPr>
            </a:pPr>
            <a:r>
              <a:t>Frontend</a:t>
            </a:r>
          </a:p>
          <a:p>
            <a:pPr>
              <a:spcAft>
                <a:spcPts val="700"/>
              </a:spcAft>
              <a:defRPr sz="1400">
                <a:solidFill>
                  <a:srgbClr val="1E2A26"/>
                </a:solidFill>
                <a:latin typeface="Aptos"/>
              </a:defRPr>
            </a:pPr>
            <a:r>
              <a:t>• Angular UI</a:t>
            </a:r>
          </a:p>
          <a:p>
            <a:pPr>
              <a:spcAft>
                <a:spcPts val="700"/>
              </a:spcAft>
              <a:defRPr sz="1400">
                <a:solidFill>
                  <a:srgbClr val="1E2A26"/>
                </a:solidFill>
                <a:latin typeface="Aptos"/>
              </a:defRPr>
            </a:pPr>
            <a:r>
              <a:t>• Forms &amp; dashboard</a:t>
            </a:r>
          </a:p>
          <a:p>
            <a:pPr>
              <a:spcAft>
                <a:spcPts val="700"/>
              </a:spcAft>
              <a:defRPr sz="1400">
                <a:solidFill>
                  <a:srgbClr val="1E2A26"/>
                </a:solidFill>
                <a:latin typeface="Aptos"/>
              </a:defRPr>
            </a:pPr>
            <a:r>
              <a:t>• API integration</a:t>
            </a:r>
          </a:p>
        </p:txBody>
      </p:sp>
      <p:sp>
        <p:nvSpPr>
          <p:cNvPr id="17" name="Rounded Rectangle 16"/>
          <p:cNvSpPr/>
          <p:nvPr/>
        </p:nvSpPr>
        <p:spPr>
          <a:xfrm>
            <a:off x="4389120" y="2880360"/>
            <a:ext cx="3429000" cy="228600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3044952"/>
            <a:ext cx="2971800" cy="1965960"/>
          </a:xfrm>
          <a:prstGeom prst="rect">
            <a:avLst/>
          </a:prstGeom>
          <a:noFill/>
        </p:spPr>
        <p:txBody>
          <a:bodyPr wrap="none">
            <a:spAutoFit/>
          </a:bodyPr>
          <a:lstStyle/>
          <a:p>
            <a:pPr>
              <a:defRPr sz="1900" b="1">
                <a:solidFill>
                  <a:srgbClr val="1C6641"/>
                </a:solidFill>
                <a:latin typeface="Aptos Display"/>
              </a:defRPr>
            </a:pPr>
            <a:r>
              <a:t>Backend</a:t>
            </a:r>
          </a:p>
          <a:p>
            <a:pPr>
              <a:spcAft>
                <a:spcPts val="700"/>
              </a:spcAft>
              <a:defRPr sz="1400">
                <a:solidFill>
                  <a:srgbClr val="1E2A26"/>
                </a:solidFill>
                <a:latin typeface="Aptos"/>
              </a:defRPr>
            </a:pPr>
            <a:r>
              <a:t>• Spring Boot</a:t>
            </a:r>
          </a:p>
          <a:p>
            <a:pPr>
              <a:spcAft>
                <a:spcPts val="700"/>
              </a:spcAft>
              <a:defRPr sz="1400">
                <a:solidFill>
                  <a:srgbClr val="1E2A26"/>
                </a:solidFill>
                <a:latin typeface="Aptos"/>
              </a:defRPr>
            </a:pPr>
            <a:r>
              <a:t>• Business logic</a:t>
            </a:r>
          </a:p>
          <a:p>
            <a:pPr>
              <a:spcAft>
                <a:spcPts val="700"/>
              </a:spcAft>
              <a:defRPr sz="1400">
                <a:solidFill>
                  <a:srgbClr val="1E2A26"/>
                </a:solidFill>
                <a:latin typeface="Aptos"/>
              </a:defRPr>
            </a:pPr>
            <a:r>
              <a:t>• Validation &amp; security</a:t>
            </a:r>
          </a:p>
        </p:txBody>
      </p:sp>
      <p:sp>
        <p:nvSpPr>
          <p:cNvPr id="19" name="Rounded Rectangle 18"/>
          <p:cNvSpPr/>
          <p:nvPr/>
        </p:nvSpPr>
        <p:spPr>
          <a:xfrm>
            <a:off x="8046720" y="2880360"/>
            <a:ext cx="3429000" cy="228600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3044952"/>
            <a:ext cx="2971800" cy="1965960"/>
          </a:xfrm>
          <a:prstGeom prst="rect">
            <a:avLst/>
          </a:prstGeom>
          <a:noFill/>
        </p:spPr>
        <p:txBody>
          <a:bodyPr wrap="none">
            <a:spAutoFit/>
          </a:bodyPr>
          <a:lstStyle/>
          <a:p>
            <a:pPr>
              <a:defRPr sz="1900" b="1">
                <a:solidFill>
                  <a:srgbClr val="1C6641"/>
                </a:solidFill>
                <a:latin typeface="Aptos Display"/>
              </a:defRPr>
            </a:pPr>
            <a:r>
              <a:t>Database</a:t>
            </a:r>
          </a:p>
          <a:p>
            <a:pPr>
              <a:spcAft>
                <a:spcPts val="700"/>
              </a:spcAft>
              <a:defRPr sz="1400">
                <a:solidFill>
                  <a:srgbClr val="1E2A26"/>
                </a:solidFill>
                <a:latin typeface="Aptos"/>
              </a:defRPr>
            </a:pPr>
            <a:r>
              <a:t>• MySQL</a:t>
            </a:r>
          </a:p>
          <a:p>
            <a:pPr>
              <a:spcAft>
                <a:spcPts val="700"/>
              </a:spcAft>
              <a:defRPr sz="1400">
                <a:solidFill>
                  <a:srgbClr val="1E2A26"/>
                </a:solidFill>
                <a:latin typeface="Aptos"/>
              </a:defRPr>
            </a:pPr>
            <a:r>
              <a:t>• Persistent records</a:t>
            </a:r>
          </a:p>
          <a:p>
            <a:pPr>
              <a:spcAft>
                <a:spcPts val="700"/>
              </a:spcAft>
              <a:defRPr sz="1400">
                <a:solidFill>
                  <a:srgbClr val="1E2A26"/>
                </a:solidFill>
                <a:latin typeface="Aptos"/>
              </a:defRPr>
            </a:pPr>
            <a:r>
              <a:t>• Relational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Core Modules</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07</a:t>
            </a:r>
          </a:p>
        </p:txBody>
      </p:sp>
      <p:sp>
        <p:nvSpPr>
          <p:cNvPr id="6" name="Rounded Rectangle 5"/>
          <p:cNvSpPr/>
          <p:nvPr/>
        </p:nvSpPr>
        <p:spPr>
          <a:xfrm>
            <a:off x="594360" y="1234440"/>
            <a:ext cx="3566160" cy="20116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99032"/>
            <a:ext cx="3108960" cy="1691640"/>
          </a:xfrm>
          <a:prstGeom prst="rect">
            <a:avLst/>
          </a:prstGeom>
          <a:noFill/>
        </p:spPr>
        <p:txBody>
          <a:bodyPr wrap="none">
            <a:spAutoFit/>
          </a:bodyPr>
          <a:lstStyle/>
          <a:p>
            <a:pPr>
              <a:defRPr sz="1900" b="1">
                <a:solidFill>
                  <a:srgbClr val="1C6641"/>
                </a:solidFill>
                <a:latin typeface="Aptos Display"/>
              </a:defRPr>
            </a:pPr>
            <a:r>
              <a:t>1. User Management</a:t>
            </a:r>
          </a:p>
          <a:p>
            <a:pPr>
              <a:spcAft>
                <a:spcPts val="700"/>
              </a:spcAft>
              <a:defRPr sz="1400">
                <a:solidFill>
                  <a:srgbClr val="1E2A26"/>
                </a:solidFill>
                <a:latin typeface="Aptos"/>
              </a:defRPr>
            </a:pPr>
            <a:r>
              <a:t>• Registration &amp; login</a:t>
            </a:r>
          </a:p>
          <a:p>
            <a:pPr>
              <a:spcAft>
                <a:spcPts val="700"/>
              </a:spcAft>
              <a:defRPr sz="1400">
                <a:solidFill>
                  <a:srgbClr val="1E2A26"/>
                </a:solidFill>
                <a:latin typeface="Aptos"/>
              </a:defRPr>
            </a:pPr>
            <a:r>
              <a:t>• Authentication</a:t>
            </a:r>
          </a:p>
          <a:p>
            <a:pPr>
              <a:spcAft>
                <a:spcPts val="700"/>
              </a:spcAft>
              <a:defRPr sz="1400">
                <a:solidFill>
                  <a:srgbClr val="1E2A26"/>
                </a:solidFill>
                <a:latin typeface="Aptos"/>
              </a:defRPr>
            </a:pPr>
            <a:r>
              <a:t>• User roles</a:t>
            </a:r>
          </a:p>
        </p:txBody>
      </p:sp>
      <p:sp>
        <p:nvSpPr>
          <p:cNvPr id="8" name="Rounded Rectangle 7"/>
          <p:cNvSpPr/>
          <p:nvPr/>
        </p:nvSpPr>
        <p:spPr>
          <a:xfrm>
            <a:off x="4315968" y="1234440"/>
            <a:ext cx="3566160" cy="20116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399032"/>
            <a:ext cx="3108960" cy="1691640"/>
          </a:xfrm>
          <a:prstGeom prst="rect">
            <a:avLst/>
          </a:prstGeom>
          <a:noFill/>
        </p:spPr>
        <p:txBody>
          <a:bodyPr wrap="none">
            <a:spAutoFit/>
          </a:bodyPr>
          <a:lstStyle/>
          <a:p>
            <a:pPr>
              <a:defRPr sz="1900" b="1">
                <a:solidFill>
                  <a:srgbClr val="1C6641"/>
                </a:solidFill>
                <a:latin typeface="Aptos Display"/>
              </a:defRPr>
            </a:pPr>
            <a:r>
              <a:t>2. Plantation Management</a:t>
            </a:r>
          </a:p>
          <a:p>
            <a:pPr>
              <a:spcAft>
                <a:spcPts val="700"/>
              </a:spcAft>
              <a:defRPr sz="1400">
                <a:solidFill>
                  <a:srgbClr val="1E2A26"/>
                </a:solidFill>
                <a:latin typeface="Aptos"/>
              </a:defRPr>
            </a:pPr>
            <a:r>
              <a:t>• Plant details</a:t>
            </a:r>
          </a:p>
          <a:p>
            <a:pPr>
              <a:spcAft>
                <a:spcPts val="700"/>
              </a:spcAft>
              <a:defRPr sz="1400">
                <a:solidFill>
                  <a:srgbClr val="1E2A26"/>
                </a:solidFill>
                <a:latin typeface="Aptos"/>
              </a:defRPr>
            </a:pPr>
            <a:r>
              <a:t>• Location &amp; quantity</a:t>
            </a:r>
          </a:p>
          <a:p>
            <a:pPr>
              <a:spcAft>
                <a:spcPts val="700"/>
              </a:spcAft>
              <a:defRPr sz="1400">
                <a:solidFill>
                  <a:srgbClr val="1E2A26"/>
                </a:solidFill>
                <a:latin typeface="Aptos"/>
              </a:defRPr>
            </a:pPr>
            <a:r>
              <a:t>• CRUD operations</a:t>
            </a:r>
          </a:p>
        </p:txBody>
      </p:sp>
      <p:sp>
        <p:nvSpPr>
          <p:cNvPr id="10" name="Rounded Rectangle 9"/>
          <p:cNvSpPr/>
          <p:nvPr/>
        </p:nvSpPr>
        <p:spPr>
          <a:xfrm>
            <a:off x="8028431" y="1234440"/>
            <a:ext cx="3566160" cy="20116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1" y="1399032"/>
            <a:ext cx="3108960" cy="1691640"/>
          </a:xfrm>
          <a:prstGeom prst="rect">
            <a:avLst/>
          </a:prstGeom>
          <a:noFill/>
        </p:spPr>
        <p:txBody>
          <a:bodyPr wrap="none">
            <a:spAutoFit/>
          </a:bodyPr>
          <a:lstStyle/>
          <a:p>
            <a:pPr>
              <a:defRPr sz="1900" b="1">
                <a:solidFill>
                  <a:srgbClr val="1C6641"/>
                </a:solidFill>
                <a:latin typeface="Aptos Display"/>
              </a:defRPr>
            </a:pPr>
            <a:r>
              <a:t>3. Growth Tracking</a:t>
            </a:r>
          </a:p>
          <a:p>
            <a:pPr>
              <a:spcAft>
                <a:spcPts val="700"/>
              </a:spcAft>
              <a:defRPr sz="1400">
                <a:solidFill>
                  <a:srgbClr val="1E2A26"/>
                </a:solidFill>
                <a:latin typeface="Aptos"/>
              </a:defRPr>
            </a:pPr>
            <a:r>
              <a:t>• Plant height</a:t>
            </a:r>
          </a:p>
          <a:p>
            <a:pPr>
              <a:spcAft>
                <a:spcPts val="700"/>
              </a:spcAft>
              <a:defRPr sz="1400">
                <a:solidFill>
                  <a:srgbClr val="1E2A26"/>
                </a:solidFill>
                <a:latin typeface="Aptos"/>
              </a:defRPr>
            </a:pPr>
            <a:r>
              <a:t>• Growth stage</a:t>
            </a:r>
          </a:p>
          <a:p>
            <a:pPr>
              <a:spcAft>
                <a:spcPts val="700"/>
              </a:spcAft>
              <a:defRPr sz="1400">
                <a:solidFill>
                  <a:srgbClr val="1E2A26"/>
                </a:solidFill>
                <a:latin typeface="Aptos"/>
              </a:defRPr>
            </a:pPr>
            <a:r>
              <a:t>• Health status</a:t>
            </a:r>
          </a:p>
        </p:txBody>
      </p:sp>
      <p:sp>
        <p:nvSpPr>
          <p:cNvPr id="12" name="Rounded Rectangle 11"/>
          <p:cNvSpPr/>
          <p:nvPr/>
        </p:nvSpPr>
        <p:spPr>
          <a:xfrm>
            <a:off x="594360" y="3566160"/>
            <a:ext cx="3566160" cy="20116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730752"/>
            <a:ext cx="3108960" cy="1691640"/>
          </a:xfrm>
          <a:prstGeom prst="rect">
            <a:avLst/>
          </a:prstGeom>
          <a:noFill/>
        </p:spPr>
        <p:txBody>
          <a:bodyPr wrap="none">
            <a:spAutoFit/>
          </a:bodyPr>
          <a:lstStyle/>
          <a:p>
            <a:pPr>
              <a:defRPr sz="1900" b="1">
                <a:solidFill>
                  <a:srgbClr val="1C6641"/>
                </a:solidFill>
                <a:latin typeface="Aptos Display"/>
              </a:defRPr>
            </a:pPr>
            <a:r>
              <a:t>4. Maintenance</a:t>
            </a:r>
          </a:p>
          <a:p>
            <a:pPr>
              <a:spcAft>
                <a:spcPts val="700"/>
              </a:spcAft>
              <a:defRPr sz="1400">
                <a:solidFill>
                  <a:srgbClr val="1E2A26"/>
                </a:solidFill>
                <a:latin typeface="Aptos"/>
              </a:defRPr>
            </a:pPr>
            <a:r>
              <a:t>• Watering</a:t>
            </a:r>
          </a:p>
          <a:p>
            <a:pPr>
              <a:spcAft>
                <a:spcPts val="700"/>
              </a:spcAft>
              <a:defRPr sz="1400">
                <a:solidFill>
                  <a:srgbClr val="1E2A26"/>
                </a:solidFill>
                <a:latin typeface="Aptos"/>
              </a:defRPr>
            </a:pPr>
            <a:r>
              <a:t>• Fertilizer</a:t>
            </a:r>
          </a:p>
          <a:p>
            <a:pPr>
              <a:spcAft>
                <a:spcPts val="700"/>
              </a:spcAft>
              <a:defRPr sz="1400">
                <a:solidFill>
                  <a:srgbClr val="1E2A26"/>
                </a:solidFill>
                <a:latin typeface="Aptos"/>
              </a:defRPr>
            </a:pPr>
            <a:r>
              <a:t>• Pesticide / activities</a:t>
            </a:r>
          </a:p>
        </p:txBody>
      </p:sp>
      <p:sp>
        <p:nvSpPr>
          <p:cNvPr id="14" name="Rounded Rectangle 13"/>
          <p:cNvSpPr/>
          <p:nvPr/>
        </p:nvSpPr>
        <p:spPr>
          <a:xfrm>
            <a:off x="4315968" y="3566160"/>
            <a:ext cx="3566160" cy="20116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3730752"/>
            <a:ext cx="3108960" cy="1691640"/>
          </a:xfrm>
          <a:prstGeom prst="rect">
            <a:avLst/>
          </a:prstGeom>
          <a:noFill/>
        </p:spPr>
        <p:txBody>
          <a:bodyPr wrap="none">
            <a:spAutoFit/>
          </a:bodyPr>
          <a:lstStyle/>
          <a:p>
            <a:pPr>
              <a:defRPr sz="1900" b="1">
                <a:solidFill>
                  <a:srgbClr val="1C6641"/>
                </a:solidFill>
                <a:latin typeface="Aptos Display"/>
              </a:defRPr>
            </a:pPr>
            <a:r>
              <a:t>5. Disease Management</a:t>
            </a:r>
          </a:p>
          <a:p>
            <a:pPr>
              <a:spcAft>
                <a:spcPts val="700"/>
              </a:spcAft>
              <a:defRPr sz="1400">
                <a:solidFill>
                  <a:srgbClr val="1E2A26"/>
                </a:solidFill>
                <a:latin typeface="Aptos"/>
              </a:defRPr>
            </a:pPr>
            <a:r>
              <a:t>• Disease details</a:t>
            </a:r>
          </a:p>
          <a:p>
            <a:pPr>
              <a:spcAft>
                <a:spcPts val="700"/>
              </a:spcAft>
              <a:defRPr sz="1400">
                <a:solidFill>
                  <a:srgbClr val="1E2A26"/>
                </a:solidFill>
                <a:latin typeface="Aptos"/>
              </a:defRPr>
            </a:pPr>
            <a:r>
              <a:t>• Treatment</a:t>
            </a:r>
          </a:p>
          <a:p>
            <a:pPr>
              <a:spcAft>
                <a:spcPts val="700"/>
              </a:spcAft>
              <a:defRPr sz="1400">
                <a:solidFill>
                  <a:srgbClr val="1E2A26"/>
                </a:solidFill>
                <a:latin typeface="Aptos"/>
              </a:defRPr>
            </a:pPr>
            <a:r>
              <a:t>• Status</a:t>
            </a:r>
          </a:p>
        </p:txBody>
      </p:sp>
      <p:sp>
        <p:nvSpPr>
          <p:cNvPr id="16" name="Rounded Rectangle 15"/>
          <p:cNvSpPr/>
          <p:nvPr/>
        </p:nvSpPr>
        <p:spPr>
          <a:xfrm>
            <a:off x="8028431" y="3566160"/>
            <a:ext cx="3566160" cy="20116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3730752"/>
            <a:ext cx="3108960" cy="1691640"/>
          </a:xfrm>
          <a:prstGeom prst="rect">
            <a:avLst/>
          </a:prstGeom>
          <a:noFill/>
        </p:spPr>
        <p:txBody>
          <a:bodyPr wrap="none">
            <a:spAutoFit/>
          </a:bodyPr>
          <a:lstStyle/>
          <a:p>
            <a:pPr>
              <a:defRPr sz="1900" b="1">
                <a:solidFill>
                  <a:srgbClr val="1C6641"/>
                </a:solidFill>
                <a:latin typeface="Aptos Display"/>
              </a:defRPr>
            </a:pPr>
            <a:r>
              <a:t>6. Harvest</a:t>
            </a:r>
          </a:p>
          <a:p>
            <a:pPr>
              <a:spcAft>
                <a:spcPts val="700"/>
              </a:spcAft>
              <a:defRPr sz="1400">
                <a:solidFill>
                  <a:srgbClr val="1E2A26"/>
                </a:solidFill>
                <a:latin typeface="Aptos"/>
              </a:defRPr>
            </a:pPr>
            <a:r>
              <a:t>• Expected date</a:t>
            </a:r>
          </a:p>
          <a:p>
            <a:pPr>
              <a:spcAft>
                <a:spcPts val="700"/>
              </a:spcAft>
              <a:defRPr sz="1400">
                <a:solidFill>
                  <a:srgbClr val="1E2A26"/>
                </a:solidFill>
                <a:latin typeface="Aptos"/>
              </a:defRPr>
            </a:pPr>
            <a:r>
              <a:t>• Actual date</a:t>
            </a:r>
          </a:p>
          <a:p>
            <a:pPr>
              <a:spcAft>
                <a:spcPts val="700"/>
              </a:spcAft>
              <a:defRPr sz="1400">
                <a:solidFill>
                  <a:srgbClr val="1E2A26"/>
                </a:solidFill>
                <a:latin typeface="Aptos"/>
              </a:defRPr>
            </a:pPr>
            <a:r>
              <a:t>• Quantity &amp; status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ER Diagram</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08</a:t>
            </a:r>
          </a:p>
        </p:txBody>
      </p:sp>
      <p:sp>
        <p:nvSpPr>
          <p:cNvPr id="6" name="Rounded Rectangle 5"/>
          <p:cNvSpPr/>
          <p:nvPr/>
        </p:nvSpPr>
        <p:spPr>
          <a:xfrm>
            <a:off x="502920" y="1234440"/>
            <a:ext cx="2103120" cy="1508760"/>
          </a:xfrm>
          <a:prstGeom prst="roundRect">
            <a:avLst/>
          </a:prstGeom>
          <a:solidFill>
            <a:srgbClr val="F8FAF7"/>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325880"/>
            <a:ext cx="1883663" cy="1325880"/>
          </a:xfrm>
          <a:prstGeom prst="rect">
            <a:avLst/>
          </a:prstGeom>
          <a:noFill/>
        </p:spPr>
        <p:txBody>
          <a:bodyPr wrap="none">
            <a:spAutoFit/>
          </a:bodyPr>
          <a:lstStyle/>
          <a:p>
            <a:pPr>
              <a:defRPr sz="1400" b="1">
                <a:solidFill>
                  <a:srgbClr val="1C6641"/>
                </a:solidFill>
                <a:latin typeface="Aptos"/>
              </a:defRPr>
            </a:pPr>
            <a:r>
              <a:t>USER</a:t>
            </a:r>
          </a:p>
          <a:p>
            <a:pPr>
              <a:spcAft>
                <a:spcPts val="100"/>
              </a:spcAft>
              <a:defRPr sz="1000">
                <a:solidFill>
                  <a:srgbClr val="1E2A26"/>
                </a:solidFill>
                <a:latin typeface="Aptos"/>
              </a:defRPr>
            </a:pPr>
            <a:r>
              <a:t>PK user_id</a:t>
            </a:r>
          </a:p>
          <a:p>
            <a:pPr>
              <a:spcAft>
                <a:spcPts val="100"/>
              </a:spcAft>
              <a:defRPr sz="1000">
                <a:solidFill>
                  <a:srgbClr val="1E2A26"/>
                </a:solidFill>
                <a:latin typeface="Aptos"/>
              </a:defRPr>
            </a:pPr>
            <a:r>
              <a:t>name</a:t>
            </a:r>
          </a:p>
          <a:p>
            <a:pPr>
              <a:spcAft>
                <a:spcPts val="100"/>
              </a:spcAft>
              <a:defRPr sz="1000">
                <a:solidFill>
                  <a:srgbClr val="1E2A26"/>
                </a:solidFill>
                <a:latin typeface="Aptos"/>
              </a:defRPr>
            </a:pPr>
            <a:r>
              <a:t>email</a:t>
            </a:r>
          </a:p>
          <a:p>
            <a:pPr>
              <a:spcAft>
                <a:spcPts val="100"/>
              </a:spcAft>
              <a:defRPr sz="1000">
                <a:solidFill>
                  <a:srgbClr val="1E2A26"/>
                </a:solidFill>
                <a:latin typeface="Aptos"/>
              </a:defRPr>
            </a:pPr>
            <a:r>
              <a:t>password</a:t>
            </a:r>
          </a:p>
          <a:p>
            <a:pPr>
              <a:spcAft>
                <a:spcPts val="100"/>
              </a:spcAft>
              <a:defRPr sz="1000">
                <a:solidFill>
                  <a:srgbClr val="1E2A26"/>
                </a:solidFill>
                <a:latin typeface="Aptos"/>
              </a:defRPr>
            </a:pPr>
            <a:r>
              <a:t>role</a:t>
            </a:r>
          </a:p>
        </p:txBody>
      </p:sp>
      <p:sp>
        <p:nvSpPr>
          <p:cNvPr id="8" name="Rounded Rectangle 7"/>
          <p:cNvSpPr/>
          <p:nvPr/>
        </p:nvSpPr>
        <p:spPr>
          <a:xfrm>
            <a:off x="3063240" y="1234440"/>
            <a:ext cx="2468880" cy="1737360"/>
          </a:xfrm>
          <a:prstGeom prst="roundRect">
            <a:avLst/>
          </a:prstGeom>
          <a:solidFill>
            <a:srgbClr val="F8FAF7"/>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72968" y="1325880"/>
            <a:ext cx="2249424" cy="1554480"/>
          </a:xfrm>
          <a:prstGeom prst="rect">
            <a:avLst/>
          </a:prstGeom>
          <a:noFill/>
        </p:spPr>
        <p:txBody>
          <a:bodyPr wrap="none">
            <a:spAutoFit/>
          </a:bodyPr>
          <a:lstStyle/>
          <a:p>
            <a:pPr>
              <a:defRPr sz="1400" b="1">
                <a:solidFill>
                  <a:srgbClr val="1C6641"/>
                </a:solidFill>
                <a:latin typeface="Aptos"/>
              </a:defRPr>
            </a:pPr>
            <a:r>
              <a:t>PLANTATION</a:t>
            </a:r>
          </a:p>
          <a:p>
            <a:pPr>
              <a:spcAft>
                <a:spcPts val="100"/>
              </a:spcAft>
              <a:defRPr sz="1000">
                <a:solidFill>
                  <a:srgbClr val="1E2A26"/>
                </a:solidFill>
                <a:latin typeface="Aptos"/>
              </a:defRPr>
            </a:pPr>
            <a:r>
              <a:t>PK plantation_id</a:t>
            </a:r>
          </a:p>
          <a:p>
            <a:pPr>
              <a:spcAft>
                <a:spcPts val="100"/>
              </a:spcAft>
              <a:defRPr sz="1000">
                <a:solidFill>
                  <a:srgbClr val="1E2A26"/>
                </a:solidFill>
                <a:latin typeface="Aptos"/>
              </a:defRPr>
            </a:pPr>
            <a:r>
              <a:t>FK user_id</a:t>
            </a:r>
          </a:p>
          <a:p>
            <a:pPr>
              <a:spcAft>
                <a:spcPts val="100"/>
              </a:spcAft>
              <a:defRPr sz="1000">
                <a:solidFill>
                  <a:srgbClr val="1E2A26"/>
                </a:solidFill>
                <a:latin typeface="Aptos"/>
              </a:defRPr>
            </a:pPr>
            <a:r>
              <a:t>plant_name</a:t>
            </a:r>
          </a:p>
          <a:p>
            <a:pPr>
              <a:spcAft>
                <a:spcPts val="100"/>
              </a:spcAft>
              <a:defRPr sz="1000">
                <a:solidFill>
                  <a:srgbClr val="1E2A26"/>
                </a:solidFill>
                <a:latin typeface="Aptos"/>
              </a:defRPr>
            </a:pPr>
            <a:r>
              <a:t>planting_date</a:t>
            </a:r>
          </a:p>
          <a:p>
            <a:pPr>
              <a:spcAft>
                <a:spcPts val="100"/>
              </a:spcAft>
              <a:defRPr sz="1000">
                <a:solidFill>
                  <a:srgbClr val="1E2A26"/>
                </a:solidFill>
                <a:latin typeface="Aptos"/>
              </a:defRPr>
            </a:pPr>
            <a:r>
              <a:t>location</a:t>
            </a:r>
          </a:p>
        </p:txBody>
      </p:sp>
      <p:sp>
        <p:nvSpPr>
          <p:cNvPr id="10" name="Rounded Rectangle 9"/>
          <p:cNvSpPr/>
          <p:nvPr/>
        </p:nvSpPr>
        <p:spPr>
          <a:xfrm>
            <a:off x="5943600" y="1234440"/>
            <a:ext cx="2560320" cy="1737360"/>
          </a:xfrm>
          <a:prstGeom prst="roundRect">
            <a:avLst/>
          </a:prstGeom>
          <a:solidFill>
            <a:srgbClr val="F8FAF7"/>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53328" y="1325880"/>
            <a:ext cx="2340863" cy="1554480"/>
          </a:xfrm>
          <a:prstGeom prst="rect">
            <a:avLst/>
          </a:prstGeom>
          <a:noFill/>
        </p:spPr>
        <p:txBody>
          <a:bodyPr wrap="none">
            <a:spAutoFit/>
          </a:bodyPr>
          <a:lstStyle/>
          <a:p>
            <a:pPr>
              <a:defRPr sz="1400" b="1">
                <a:solidFill>
                  <a:srgbClr val="1C6641"/>
                </a:solidFill>
                <a:latin typeface="Aptos"/>
              </a:defRPr>
            </a:pPr>
            <a:r>
              <a:t>GROWTH_RECORD</a:t>
            </a:r>
          </a:p>
          <a:p>
            <a:pPr>
              <a:spcAft>
                <a:spcPts val="100"/>
              </a:spcAft>
              <a:defRPr sz="1000">
                <a:solidFill>
                  <a:srgbClr val="1E2A26"/>
                </a:solidFill>
                <a:latin typeface="Aptos"/>
              </a:defRPr>
            </a:pPr>
            <a:r>
              <a:t>PK growth_id</a:t>
            </a:r>
          </a:p>
          <a:p>
            <a:pPr>
              <a:spcAft>
                <a:spcPts val="100"/>
              </a:spcAft>
              <a:defRPr sz="1000">
                <a:solidFill>
                  <a:srgbClr val="1E2A26"/>
                </a:solidFill>
                <a:latin typeface="Aptos"/>
              </a:defRPr>
            </a:pPr>
            <a:r>
              <a:t>FK plantation_id</a:t>
            </a:r>
          </a:p>
          <a:p>
            <a:pPr>
              <a:spcAft>
                <a:spcPts val="100"/>
              </a:spcAft>
              <a:defRPr sz="1000">
                <a:solidFill>
                  <a:srgbClr val="1E2A26"/>
                </a:solidFill>
                <a:latin typeface="Aptos"/>
              </a:defRPr>
            </a:pPr>
            <a:r>
              <a:t>record_date</a:t>
            </a:r>
          </a:p>
          <a:p>
            <a:pPr>
              <a:spcAft>
                <a:spcPts val="100"/>
              </a:spcAft>
              <a:defRPr sz="1000">
                <a:solidFill>
                  <a:srgbClr val="1E2A26"/>
                </a:solidFill>
                <a:latin typeface="Aptos"/>
              </a:defRPr>
            </a:pPr>
            <a:r>
              <a:t>height</a:t>
            </a:r>
          </a:p>
          <a:p>
            <a:pPr>
              <a:spcAft>
                <a:spcPts val="100"/>
              </a:spcAft>
              <a:defRPr sz="1000">
                <a:solidFill>
                  <a:srgbClr val="1E2A26"/>
                </a:solidFill>
                <a:latin typeface="Aptos"/>
              </a:defRPr>
            </a:pPr>
            <a:r>
              <a:t>health_status</a:t>
            </a:r>
          </a:p>
        </p:txBody>
      </p:sp>
      <p:sp>
        <p:nvSpPr>
          <p:cNvPr id="12" name="Rounded Rectangle 11"/>
          <p:cNvSpPr/>
          <p:nvPr/>
        </p:nvSpPr>
        <p:spPr>
          <a:xfrm>
            <a:off x="8915400" y="1234440"/>
            <a:ext cx="2560320" cy="1737360"/>
          </a:xfrm>
          <a:prstGeom prst="roundRect">
            <a:avLst/>
          </a:prstGeom>
          <a:solidFill>
            <a:srgbClr val="F8FAF7"/>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25128" y="1325880"/>
            <a:ext cx="2340863" cy="1554480"/>
          </a:xfrm>
          <a:prstGeom prst="rect">
            <a:avLst/>
          </a:prstGeom>
          <a:noFill/>
        </p:spPr>
        <p:txBody>
          <a:bodyPr wrap="none">
            <a:spAutoFit/>
          </a:bodyPr>
          <a:lstStyle/>
          <a:p>
            <a:pPr>
              <a:defRPr sz="1400" b="1">
                <a:solidFill>
                  <a:srgbClr val="1C6641"/>
                </a:solidFill>
                <a:latin typeface="Aptos"/>
              </a:defRPr>
            </a:pPr>
            <a:r>
              <a:t>MAINTENANCE</a:t>
            </a:r>
          </a:p>
          <a:p>
            <a:pPr>
              <a:spcAft>
                <a:spcPts val="100"/>
              </a:spcAft>
              <a:defRPr sz="1000">
                <a:solidFill>
                  <a:srgbClr val="1E2A26"/>
                </a:solidFill>
                <a:latin typeface="Aptos"/>
              </a:defRPr>
            </a:pPr>
            <a:r>
              <a:t>PK maintenance_id</a:t>
            </a:r>
          </a:p>
          <a:p>
            <a:pPr>
              <a:spcAft>
                <a:spcPts val="100"/>
              </a:spcAft>
              <a:defRPr sz="1000">
                <a:solidFill>
                  <a:srgbClr val="1E2A26"/>
                </a:solidFill>
                <a:latin typeface="Aptos"/>
              </a:defRPr>
            </a:pPr>
            <a:r>
              <a:t>FK plantation_id</a:t>
            </a:r>
          </a:p>
          <a:p>
            <a:pPr>
              <a:spcAft>
                <a:spcPts val="100"/>
              </a:spcAft>
              <a:defRPr sz="1000">
                <a:solidFill>
                  <a:srgbClr val="1E2A26"/>
                </a:solidFill>
                <a:latin typeface="Aptos"/>
              </a:defRPr>
            </a:pPr>
            <a:r>
              <a:t>activity_date</a:t>
            </a:r>
          </a:p>
          <a:p>
            <a:pPr>
              <a:spcAft>
                <a:spcPts val="100"/>
              </a:spcAft>
              <a:defRPr sz="1000">
                <a:solidFill>
                  <a:srgbClr val="1E2A26"/>
                </a:solidFill>
                <a:latin typeface="Aptos"/>
              </a:defRPr>
            </a:pPr>
            <a:r>
              <a:t>activity_type</a:t>
            </a:r>
          </a:p>
        </p:txBody>
      </p:sp>
      <p:sp>
        <p:nvSpPr>
          <p:cNvPr id="14" name="Rounded Rectangle 13"/>
          <p:cNvSpPr/>
          <p:nvPr/>
        </p:nvSpPr>
        <p:spPr>
          <a:xfrm>
            <a:off x="1828800" y="4069080"/>
            <a:ext cx="2468880" cy="1600200"/>
          </a:xfrm>
          <a:prstGeom prst="roundRect">
            <a:avLst/>
          </a:prstGeom>
          <a:solidFill>
            <a:srgbClr val="F8FAF7"/>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38528" y="4160520"/>
            <a:ext cx="2249424" cy="1417320"/>
          </a:xfrm>
          <a:prstGeom prst="rect">
            <a:avLst/>
          </a:prstGeom>
          <a:noFill/>
        </p:spPr>
        <p:txBody>
          <a:bodyPr wrap="none">
            <a:spAutoFit/>
          </a:bodyPr>
          <a:lstStyle/>
          <a:p>
            <a:pPr>
              <a:defRPr sz="1400" b="1">
                <a:solidFill>
                  <a:srgbClr val="1C6641"/>
                </a:solidFill>
                <a:latin typeface="Aptos"/>
              </a:defRPr>
            </a:pPr>
            <a:r>
              <a:t>DISEASE</a:t>
            </a:r>
          </a:p>
          <a:p>
            <a:pPr>
              <a:spcAft>
                <a:spcPts val="100"/>
              </a:spcAft>
              <a:defRPr sz="1000">
                <a:solidFill>
                  <a:srgbClr val="1E2A26"/>
                </a:solidFill>
                <a:latin typeface="Aptos"/>
              </a:defRPr>
            </a:pPr>
            <a:r>
              <a:t>PK disease_id</a:t>
            </a:r>
          </a:p>
          <a:p>
            <a:pPr>
              <a:spcAft>
                <a:spcPts val="100"/>
              </a:spcAft>
              <a:defRPr sz="1000">
                <a:solidFill>
                  <a:srgbClr val="1E2A26"/>
                </a:solidFill>
                <a:latin typeface="Aptos"/>
              </a:defRPr>
            </a:pPr>
            <a:r>
              <a:t>FK plantation_id</a:t>
            </a:r>
          </a:p>
          <a:p>
            <a:pPr>
              <a:spcAft>
                <a:spcPts val="100"/>
              </a:spcAft>
              <a:defRPr sz="1000">
                <a:solidFill>
                  <a:srgbClr val="1E2A26"/>
                </a:solidFill>
                <a:latin typeface="Aptos"/>
              </a:defRPr>
            </a:pPr>
            <a:r>
              <a:t>disease_name</a:t>
            </a:r>
          </a:p>
          <a:p>
            <a:pPr>
              <a:spcAft>
                <a:spcPts val="100"/>
              </a:spcAft>
              <a:defRPr sz="1000">
                <a:solidFill>
                  <a:srgbClr val="1E2A26"/>
                </a:solidFill>
                <a:latin typeface="Aptos"/>
              </a:defRPr>
            </a:pPr>
            <a:r>
              <a:t>treatment</a:t>
            </a:r>
          </a:p>
        </p:txBody>
      </p:sp>
      <p:sp>
        <p:nvSpPr>
          <p:cNvPr id="16" name="Rounded Rectangle 15"/>
          <p:cNvSpPr/>
          <p:nvPr/>
        </p:nvSpPr>
        <p:spPr>
          <a:xfrm>
            <a:off x="5074920" y="4069080"/>
            <a:ext cx="2468880" cy="1600200"/>
          </a:xfrm>
          <a:prstGeom prst="roundRect">
            <a:avLst/>
          </a:prstGeom>
          <a:solidFill>
            <a:srgbClr val="F8FAF7"/>
          </a:solidFill>
          <a:ln>
            <a:solidFill>
              <a:srgbClr val="1C6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4648" y="4160520"/>
            <a:ext cx="2249424" cy="1417320"/>
          </a:xfrm>
          <a:prstGeom prst="rect">
            <a:avLst/>
          </a:prstGeom>
          <a:noFill/>
        </p:spPr>
        <p:txBody>
          <a:bodyPr wrap="none">
            <a:spAutoFit/>
          </a:bodyPr>
          <a:lstStyle/>
          <a:p>
            <a:pPr>
              <a:defRPr sz="1400" b="1">
                <a:solidFill>
                  <a:srgbClr val="1C6641"/>
                </a:solidFill>
                <a:latin typeface="Aptos"/>
              </a:defRPr>
            </a:pPr>
            <a:r>
              <a:t>HARVEST</a:t>
            </a:r>
          </a:p>
          <a:p>
            <a:pPr>
              <a:spcAft>
                <a:spcPts val="100"/>
              </a:spcAft>
              <a:defRPr sz="1000">
                <a:solidFill>
                  <a:srgbClr val="1E2A26"/>
                </a:solidFill>
                <a:latin typeface="Aptos"/>
              </a:defRPr>
            </a:pPr>
            <a:r>
              <a:t>PK harvest_id</a:t>
            </a:r>
          </a:p>
          <a:p>
            <a:pPr>
              <a:spcAft>
                <a:spcPts val="100"/>
              </a:spcAft>
              <a:defRPr sz="1000">
                <a:solidFill>
                  <a:srgbClr val="1E2A26"/>
                </a:solidFill>
                <a:latin typeface="Aptos"/>
              </a:defRPr>
            </a:pPr>
            <a:r>
              <a:t>FK plantation_id</a:t>
            </a:r>
          </a:p>
          <a:p>
            <a:pPr>
              <a:spcAft>
                <a:spcPts val="100"/>
              </a:spcAft>
              <a:defRPr sz="1000">
                <a:solidFill>
                  <a:srgbClr val="1E2A26"/>
                </a:solidFill>
                <a:latin typeface="Aptos"/>
              </a:defRPr>
            </a:pPr>
            <a:r>
              <a:t>expected_date</a:t>
            </a:r>
          </a:p>
          <a:p>
            <a:pPr>
              <a:spcAft>
                <a:spcPts val="100"/>
              </a:spcAft>
              <a:defRPr sz="1000">
                <a:solidFill>
                  <a:srgbClr val="1E2A26"/>
                </a:solidFill>
                <a:latin typeface="Aptos"/>
              </a:defRPr>
            </a:pPr>
            <a:r>
              <a:t>quantity</a:t>
            </a:r>
          </a:p>
        </p:txBody>
      </p:sp>
      <p:cxnSp>
        <p:nvCxnSpPr>
          <p:cNvPr id="18" name="Connector 17"/>
          <p:cNvCxnSpPr/>
          <p:nvPr/>
        </p:nvCxnSpPr>
        <p:spPr>
          <a:xfrm>
            <a:off x="2606040" y="1965960"/>
            <a:ext cx="457200" cy="0"/>
          </a:xfrm>
          <a:prstGeom prst="line">
            <a:avLst/>
          </a:prstGeom>
          <a:ln w="20320">
            <a:solidFill>
              <a:srgbClr val="1C664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532120" y="1965960"/>
            <a:ext cx="411480" cy="0"/>
          </a:xfrm>
          <a:prstGeom prst="line">
            <a:avLst/>
          </a:prstGeom>
          <a:ln w="20320">
            <a:solidFill>
              <a:srgbClr val="1C664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063240" y="2971800"/>
            <a:ext cx="1234440" cy="1097280"/>
          </a:xfrm>
          <a:prstGeom prst="line">
            <a:avLst/>
          </a:prstGeom>
          <a:ln w="20320">
            <a:solidFill>
              <a:srgbClr val="1C664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212080" y="2971800"/>
            <a:ext cx="1005840" cy="1097280"/>
          </a:xfrm>
          <a:prstGeom prst="line">
            <a:avLst/>
          </a:prstGeom>
          <a:ln w="20320">
            <a:solidFill>
              <a:srgbClr val="1C664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5897880"/>
            <a:ext cx="10241280" cy="365760"/>
          </a:xfrm>
          <a:prstGeom prst="rect">
            <a:avLst/>
          </a:prstGeom>
          <a:noFill/>
        </p:spPr>
        <p:txBody>
          <a:bodyPr wrap="none">
            <a:spAutoFit/>
          </a:bodyPr>
          <a:lstStyle/>
          <a:p>
            <a:pPr algn="ctr">
              <a:defRPr sz="1100">
                <a:solidFill>
                  <a:srgbClr val="5D6C65"/>
                </a:solidFill>
                <a:latin typeface="Aptos"/>
              </a:defRPr>
            </a:pPr>
            <a:r>
              <a:t>Relationships: USER 1:N PLANTATION • PLANTATION 1:N GROWTH / MAINTENANCE / DISEASE • PLANTATION 1:1 HARVEST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REST API &amp; Data Flow</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09</a:t>
            </a:r>
          </a:p>
        </p:txBody>
      </p:sp>
      <p:sp>
        <p:nvSpPr>
          <p:cNvPr id="6" name="Rounded Rectangle 5"/>
          <p:cNvSpPr/>
          <p:nvPr/>
        </p:nvSpPr>
        <p:spPr>
          <a:xfrm>
            <a:off x="640080" y="1325880"/>
            <a:ext cx="5303520" cy="448056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90472"/>
            <a:ext cx="4846320" cy="4160520"/>
          </a:xfrm>
          <a:prstGeom prst="rect">
            <a:avLst/>
          </a:prstGeom>
          <a:noFill/>
        </p:spPr>
        <p:txBody>
          <a:bodyPr wrap="none">
            <a:spAutoFit/>
          </a:bodyPr>
          <a:lstStyle/>
          <a:p>
            <a:pPr>
              <a:defRPr sz="1900" b="1">
                <a:solidFill>
                  <a:srgbClr val="1C6641"/>
                </a:solidFill>
                <a:latin typeface="Aptos Display"/>
              </a:defRPr>
            </a:pPr>
            <a:r>
              <a:t>Key REST APIs</a:t>
            </a:r>
          </a:p>
          <a:p>
            <a:pPr>
              <a:spcAft>
                <a:spcPts val="700"/>
              </a:spcAft>
              <a:defRPr sz="1400">
                <a:solidFill>
                  <a:srgbClr val="1E2A26"/>
                </a:solidFill>
                <a:latin typeface="Aptos"/>
              </a:defRPr>
            </a:pPr>
            <a:r>
              <a:t>• POST /api/plantations</a:t>
            </a:r>
          </a:p>
          <a:p>
            <a:pPr>
              <a:spcAft>
                <a:spcPts val="700"/>
              </a:spcAft>
              <a:defRPr sz="1400">
                <a:solidFill>
                  <a:srgbClr val="1E2A26"/>
                </a:solidFill>
                <a:latin typeface="Aptos"/>
              </a:defRPr>
            </a:pPr>
            <a:r>
              <a:t>• GET /api/plantations</a:t>
            </a:r>
          </a:p>
          <a:p>
            <a:pPr>
              <a:spcAft>
                <a:spcPts val="700"/>
              </a:spcAft>
              <a:defRPr sz="1400">
                <a:solidFill>
                  <a:srgbClr val="1E2A26"/>
                </a:solidFill>
                <a:latin typeface="Aptos"/>
              </a:defRPr>
            </a:pPr>
            <a:r>
              <a:t>• GET /api/plantations/{id}</a:t>
            </a:r>
          </a:p>
          <a:p>
            <a:pPr>
              <a:spcAft>
                <a:spcPts val="700"/>
              </a:spcAft>
              <a:defRPr sz="1400">
                <a:solidFill>
                  <a:srgbClr val="1E2A26"/>
                </a:solidFill>
                <a:latin typeface="Aptos"/>
              </a:defRPr>
            </a:pPr>
            <a:r>
              <a:t>• PUT /api/plantations/{id}</a:t>
            </a:r>
          </a:p>
          <a:p>
            <a:pPr>
              <a:spcAft>
                <a:spcPts val="700"/>
              </a:spcAft>
              <a:defRPr sz="1400">
                <a:solidFill>
                  <a:srgbClr val="1E2A26"/>
                </a:solidFill>
                <a:latin typeface="Aptos"/>
              </a:defRPr>
            </a:pPr>
            <a:r>
              <a:t>• DELETE /api/plantations/{id}</a:t>
            </a:r>
          </a:p>
          <a:p>
            <a:pPr>
              <a:spcAft>
                <a:spcPts val="700"/>
              </a:spcAft>
              <a:defRPr sz="1400">
                <a:solidFill>
                  <a:srgbClr val="1E2A26"/>
                </a:solidFill>
                <a:latin typeface="Aptos"/>
              </a:defRPr>
            </a:pPr>
            <a:r>
              <a:t>• POST /api/growth</a:t>
            </a:r>
          </a:p>
          <a:p>
            <a:pPr>
              <a:spcAft>
                <a:spcPts val="700"/>
              </a:spcAft>
              <a:defRPr sz="1400">
                <a:solidFill>
                  <a:srgbClr val="1E2A26"/>
                </a:solidFill>
                <a:latin typeface="Aptos"/>
              </a:defRPr>
            </a:pPr>
            <a:r>
              <a:t>• POST /api/maintenance</a:t>
            </a:r>
          </a:p>
          <a:p>
            <a:pPr>
              <a:spcAft>
                <a:spcPts val="700"/>
              </a:spcAft>
              <a:defRPr sz="1400">
                <a:solidFill>
                  <a:srgbClr val="1E2A26"/>
                </a:solidFill>
                <a:latin typeface="Aptos"/>
              </a:defRPr>
            </a:pPr>
            <a:r>
              <a:t>• POST /api/harvest</a:t>
            </a:r>
          </a:p>
        </p:txBody>
      </p:sp>
      <p:sp>
        <p:nvSpPr>
          <p:cNvPr id="8" name="Rounded Rectangle 7"/>
          <p:cNvSpPr/>
          <p:nvPr/>
        </p:nvSpPr>
        <p:spPr>
          <a:xfrm>
            <a:off x="6263640" y="1325880"/>
            <a:ext cx="5303520" cy="448056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90472"/>
            <a:ext cx="4846320" cy="4160520"/>
          </a:xfrm>
          <a:prstGeom prst="rect">
            <a:avLst/>
          </a:prstGeom>
          <a:noFill/>
        </p:spPr>
        <p:txBody>
          <a:bodyPr wrap="none">
            <a:spAutoFit/>
          </a:bodyPr>
          <a:lstStyle/>
          <a:p>
            <a:pPr>
              <a:defRPr sz="1900" b="1">
                <a:solidFill>
                  <a:srgbClr val="1C6641"/>
                </a:solidFill>
                <a:latin typeface="Aptos Display"/>
              </a:defRPr>
            </a:pPr>
            <a:r>
              <a:t>Request Flow</a:t>
            </a:r>
          </a:p>
          <a:p>
            <a:pPr>
              <a:spcAft>
                <a:spcPts val="700"/>
              </a:spcAft>
              <a:defRPr sz="1400">
                <a:solidFill>
                  <a:srgbClr val="1E2A26"/>
                </a:solidFill>
                <a:latin typeface="Aptos"/>
              </a:defRPr>
            </a:pPr>
            <a:r>
              <a:t>• Angular sends HTTP request</a:t>
            </a:r>
          </a:p>
          <a:p>
            <a:pPr>
              <a:spcAft>
                <a:spcPts val="700"/>
              </a:spcAft>
              <a:defRPr sz="1400">
                <a:solidFill>
                  <a:srgbClr val="1E2A26"/>
                </a:solidFill>
                <a:latin typeface="Aptos"/>
              </a:defRPr>
            </a:pPr>
            <a:r>
              <a:t>• Spring Boot receives the request</a:t>
            </a:r>
          </a:p>
          <a:p>
            <a:pPr>
              <a:spcAft>
                <a:spcPts val="700"/>
              </a:spcAft>
              <a:defRPr sz="1400">
                <a:solidFill>
                  <a:srgbClr val="1E2A26"/>
                </a:solidFill>
                <a:latin typeface="Aptos"/>
              </a:defRPr>
            </a:pPr>
            <a:r>
              <a:t>• Validation and business logic are applied</a:t>
            </a:r>
          </a:p>
          <a:p>
            <a:pPr>
              <a:spcAft>
                <a:spcPts val="700"/>
              </a:spcAft>
              <a:defRPr sz="1400">
                <a:solidFill>
                  <a:srgbClr val="1E2A26"/>
                </a:solidFill>
                <a:latin typeface="Aptos"/>
              </a:defRPr>
            </a:pPr>
            <a:r>
              <a:t>• Repository communicates with MySQL</a:t>
            </a:r>
          </a:p>
          <a:p>
            <a:pPr>
              <a:spcAft>
                <a:spcPts val="700"/>
              </a:spcAft>
              <a:defRPr sz="1400">
                <a:solidFill>
                  <a:srgbClr val="1E2A26"/>
                </a:solidFill>
                <a:latin typeface="Aptos"/>
              </a:defRPr>
            </a:pPr>
            <a:r>
              <a:t>• Response is returned through REST API</a:t>
            </a:r>
          </a:p>
          <a:p>
            <a:pPr>
              <a:spcAft>
                <a:spcPts val="700"/>
              </a:spcAft>
              <a:defRPr sz="1400">
                <a:solidFill>
                  <a:srgbClr val="1E2A26"/>
                </a:solidFill>
                <a:latin typeface="Aptos"/>
              </a:defRPr>
            </a:pPr>
            <a:r>
              <a:t>• Angular updates the dashboard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Technology Stack &amp; Benefits</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10</a:t>
            </a:r>
          </a:p>
        </p:txBody>
      </p:sp>
      <p:sp>
        <p:nvSpPr>
          <p:cNvPr id="6" name="Rounded Rectangle 5"/>
          <p:cNvSpPr/>
          <p:nvPr/>
        </p:nvSpPr>
        <p:spPr>
          <a:xfrm>
            <a:off x="640080" y="1234440"/>
            <a:ext cx="5303520" cy="45262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99032"/>
            <a:ext cx="4846320" cy="4206240"/>
          </a:xfrm>
          <a:prstGeom prst="rect">
            <a:avLst/>
          </a:prstGeom>
          <a:noFill/>
        </p:spPr>
        <p:txBody>
          <a:bodyPr wrap="none">
            <a:spAutoFit/>
          </a:bodyPr>
          <a:lstStyle/>
          <a:p>
            <a:pPr>
              <a:defRPr sz="1900" b="1">
                <a:solidFill>
                  <a:srgbClr val="1C6641"/>
                </a:solidFill>
                <a:latin typeface="Aptos Display"/>
              </a:defRPr>
            </a:pPr>
            <a:r>
              <a:t>Technology Stack</a:t>
            </a:r>
          </a:p>
          <a:p>
            <a:pPr>
              <a:spcAft>
                <a:spcPts val="700"/>
              </a:spcAft>
              <a:defRPr sz="1400">
                <a:solidFill>
                  <a:srgbClr val="1E2A26"/>
                </a:solidFill>
                <a:latin typeface="Aptos"/>
              </a:defRPr>
            </a:pPr>
            <a:r>
              <a:t>• Frontend: Angular</a:t>
            </a:r>
          </a:p>
          <a:p>
            <a:pPr>
              <a:spcAft>
                <a:spcPts val="700"/>
              </a:spcAft>
              <a:defRPr sz="1400">
                <a:solidFill>
                  <a:srgbClr val="1E2A26"/>
                </a:solidFill>
                <a:latin typeface="Aptos"/>
              </a:defRPr>
            </a:pPr>
            <a:r>
              <a:t>• Backend: Java Spring Boot</a:t>
            </a:r>
          </a:p>
          <a:p>
            <a:pPr>
              <a:spcAft>
                <a:spcPts val="700"/>
              </a:spcAft>
              <a:defRPr sz="1400">
                <a:solidFill>
                  <a:srgbClr val="1E2A26"/>
                </a:solidFill>
                <a:latin typeface="Aptos"/>
              </a:defRPr>
            </a:pPr>
            <a:r>
              <a:t>• Database: MySQL</a:t>
            </a:r>
          </a:p>
          <a:p>
            <a:pPr>
              <a:spcAft>
                <a:spcPts val="700"/>
              </a:spcAft>
              <a:defRPr sz="1400">
                <a:solidFill>
                  <a:srgbClr val="1E2A26"/>
                </a:solidFill>
                <a:latin typeface="Aptos"/>
              </a:defRPr>
            </a:pPr>
            <a:r>
              <a:t>• API: REST</a:t>
            </a:r>
          </a:p>
          <a:p>
            <a:pPr>
              <a:spcAft>
                <a:spcPts val="700"/>
              </a:spcAft>
              <a:defRPr sz="1400">
                <a:solidFill>
                  <a:srgbClr val="1E2A26"/>
                </a:solidFill>
                <a:latin typeface="Aptos"/>
              </a:defRPr>
            </a:pPr>
            <a:r>
              <a:t>• Authentication: JWT</a:t>
            </a:r>
          </a:p>
          <a:p>
            <a:pPr>
              <a:spcAft>
                <a:spcPts val="700"/>
              </a:spcAft>
              <a:defRPr sz="1400">
                <a:solidFill>
                  <a:srgbClr val="1E2A26"/>
                </a:solidFill>
                <a:latin typeface="Aptos"/>
              </a:defRPr>
            </a:pPr>
            <a:r>
              <a:t>• Testing: Postman</a:t>
            </a:r>
          </a:p>
          <a:p>
            <a:pPr>
              <a:spcAft>
                <a:spcPts val="700"/>
              </a:spcAft>
              <a:defRPr sz="1400">
                <a:solidFill>
                  <a:srgbClr val="1E2A26"/>
                </a:solidFill>
                <a:latin typeface="Aptos"/>
              </a:defRPr>
            </a:pPr>
            <a:r>
              <a:t>• Version Control: Git / GitHub</a:t>
            </a:r>
          </a:p>
        </p:txBody>
      </p:sp>
      <p:sp>
        <p:nvSpPr>
          <p:cNvPr id="8" name="Rounded Rectangle 7"/>
          <p:cNvSpPr/>
          <p:nvPr/>
        </p:nvSpPr>
        <p:spPr>
          <a:xfrm>
            <a:off x="6263640" y="1234440"/>
            <a:ext cx="5303520" cy="452628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399032"/>
            <a:ext cx="4846320" cy="4206240"/>
          </a:xfrm>
          <a:prstGeom prst="rect">
            <a:avLst/>
          </a:prstGeom>
          <a:noFill/>
        </p:spPr>
        <p:txBody>
          <a:bodyPr wrap="none">
            <a:spAutoFit/>
          </a:bodyPr>
          <a:lstStyle/>
          <a:p>
            <a:pPr>
              <a:defRPr sz="1900" b="1">
                <a:solidFill>
                  <a:srgbClr val="1C6641"/>
                </a:solidFill>
                <a:latin typeface="Aptos Display"/>
              </a:defRPr>
            </a:pPr>
            <a:r>
              <a:t>Key Benefits</a:t>
            </a:r>
          </a:p>
          <a:p>
            <a:pPr>
              <a:spcAft>
                <a:spcPts val="700"/>
              </a:spcAft>
              <a:defRPr sz="1400">
                <a:solidFill>
                  <a:srgbClr val="1E2A26"/>
                </a:solidFill>
                <a:latin typeface="Aptos"/>
              </a:defRPr>
            </a:pPr>
            <a:r>
              <a:t>• Reduces manual record keeping</a:t>
            </a:r>
          </a:p>
          <a:p>
            <a:pPr>
              <a:spcAft>
                <a:spcPts val="700"/>
              </a:spcAft>
              <a:defRPr sz="1400">
                <a:solidFill>
                  <a:srgbClr val="1E2A26"/>
                </a:solidFill>
                <a:latin typeface="Aptos"/>
              </a:defRPr>
            </a:pPr>
            <a:r>
              <a:t>• Centralizes plantation information</a:t>
            </a:r>
          </a:p>
          <a:p>
            <a:pPr>
              <a:spcAft>
                <a:spcPts val="700"/>
              </a:spcAft>
              <a:defRPr sz="1400">
                <a:solidFill>
                  <a:srgbClr val="1E2A26"/>
                </a:solidFill>
                <a:latin typeface="Aptos"/>
              </a:defRPr>
            </a:pPr>
            <a:r>
              <a:t>• Enables continuous growth monitoring</a:t>
            </a:r>
          </a:p>
          <a:p>
            <a:pPr>
              <a:spcAft>
                <a:spcPts val="700"/>
              </a:spcAft>
              <a:defRPr sz="1400">
                <a:solidFill>
                  <a:srgbClr val="1E2A26"/>
                </a:solidFill>
                <a:latin typeface="Aptos"/>
              </a:defRPr>
            </a:pPr>
            <a:r>
              <a:t>• Maintains activity and treatment history</a:t>
            </a:r>
          </a:p>
          <a:p>
            <a:pPr>
              <a:spcAft>
                <a:spcPts val="700"/>
              </a:spcAft>
              <a:defRPr sz="1400">
                <a:solidFill>
                  <a:srgbClr val="1E2A26"/>
                </a:solidFill>
                <a:latin typeface="Aptos"/>
              </a:defRPr>
            </a:pPr>
            <a:r>
              <a:t>• Simplifies harvest management</a:t>
            </a:r>
          </a:p>
          <a:p>
            <a:pPr>
              <a:spcAft>
                <a:spcPts val="700"/>
              </a:spcAft>
              <a:defRPr sz="1400">
                <a:solidFill>
                  <a:srgbClr val="1E2A26"/>
                </a:solidFill>
                <a:latin typeface="Aptos"/>
              </a:defRPr>
            </a:pPr>
            <a:r>
              <a:t>• Supports data-driven decisions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Future Scope &amp; Conclusion</a:t>
            </a:r>
          </a:p>
        </p:txBody>
      </p:sp>
      <p:sp>
        <p:nvSpPr>
          <p:cNvPr id="5" name="TextBox 4"/>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11</a:t>
            </a:r>
          </a:p>
        </p:txBody>
      </p:sp>
      <p:sp>
        <p:nvSpPr>
          <p:cNvPr id="6" name="Rounded Rectangle 5"/>
          <p:cNvSpPr/>
          <p:nvPr/>
        </p:nvSpPr>
        <p:spPr>
          <a:xfrm>
            <a:off x="640080" y="1234440"/>
            <a:ext cx="5303520" cy="438912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99032"/>
            <a:ext cx="4846320" cy="4069080"/>
          </a:xfrm>
          <a:prstGeom prst="rect">
            <a:avLst/>
          </a:prstGeom>
          <a:noFill/>
        </p:spPr>
        <p:txBody>
          <a:bodyPr wrap="none">
            <a:spAutoFit/>
          </a:bodyPr>
          <a:lstStyle/>
          <a:p>
            <a:pPr>
              <a:defRPr sz="1900" b="1">
                <a:solidFill>
                  <a:srgbClr val="1C6641"/>
                </a:solidFill>
                <a:latin typeface="Aptos Display"/>
              </a:defRPr>
            </a:pPr>
            <a:r>
              <a:t>Future Enhancements</a:t>
            </a:r>
          </a:p>
          <a:p>
            <a:pPr>
              <a:spcAft>
                <a:spcPts val="700"/>
              </a:spcAft>
              <a:defRPr sz="1400">
                <a:solidFill>
                  <a:srgbClr val="1E2A26"/>
                </a:solidFill>
                <a:latin typeface="Aptos"/>
              </a:defRPr>
            </a:pPr>
            <a:r>
              <a:t>• IoT sensors for soil moisture, temperature, humidity, and pH</a:t>
            </a:r>
          </a:p>
          <a:p>
            <a:pPr>
              <a:spcAft>
                <a:spcPts val="700"/>
              </a:spcAft>
              <a:defRPr sz="1400">
                <a:solidFill>
                  <a:srgbClr val="1E2A26"/>
                </a:solidFill>
                <a:latin typeface="Aptos"/>
              </a:defRPr>
            </a:pPr>
            <a:r>
              <a:t>• Weather API integration</a:t>
            </a:r>
          </a:p>
          <a:p>
            <a:pPr>
              <a:spcAft>
                <a:spcPts val="700"/>
              </a:spcAft>
              <a:defRPr sz="1400">
                <a:solidFill>
                  <a:srgbClr val="1E2A26"/>
                </a:solidFill>
                <a:latin typeface="Aptos"/>
              </a:defRPr>
            </a:pPr>
            <a:r>
              <a:t>• AI/ML-based disease detection</a:t>
            </a:r>
          </a:p>
          <a:p>
            <a:pPr>
              <a:spcAft>
                <a:spcPts val="700"/>
              </a:spcAft>
              <a:defRPr sz="1400">
                <a:solidFill>
                  <a:srgbClr val="1E2A26"/>
                </a:solidFill>
                <a:latin typeface="Aptos"/>
              </a:defRPr>
            </a:pPr>
            <a:r>
              <a:t>• GPS and map-based plantation visualization</a:t>
            </a:r>
          </a:p>
          <a:p>
            <a:pPr>
              <a:spcAft>
                <a:spcPts val="700"/>
              </a:spcAft>
              <a:defRPr sz="1400">
                <a:solidFill>
                  <a:srgbClr val="1E2A26"/>
                </a:solidFill>
                <a:latin typeface="Aptos"/>
              </a:defRPr>
            </a:pPr>
            <a:r>
              <a:t>• Android / iOS mobile application</a:t>
            </a:r>
          </a:p>
        </p:txBody>
      </p:sp>
      <p:sp>
        <p:nvSpPr>
          <p:cNvPr id="8" name="Rounded Rectangle 7"/>
          <p:cNvSpPr/>
          <p:nvPr/>
        </p:nvSpPr>
        <p:spPr>
          <a:xfrm>
            <a:off x="6263640" y="1234440"/>
            <a:ext cx="5303520" cy="438912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399032"/>
            <a:ext cx="4846320" cy="4069080"/>
          </a:xfrm>
          <a:prstGeom prst="rect">
            <a:avLst/>
          </a:prstGeom>
          <a:noFill/>
        </p:spPr>
        <p:txBody>
          <a:bodyPr wrap="none">
            <a:spAutoFit/>
          </a:bodyPr>
          <a:lstStyle/>
          <a:p>
            <a:pPr>
              <a:defRPr sz="1900" b="1">
                <a:solidFill>
                  <a:srgbClr val="1C6641"/>
                </a:solidFill>
                <a:latin typeface="Aptos Display"/>
              </a:defRPr>
            </a:pPr>
            <a:r>
              <a:t>Conclusion</a:t>
            </a:r>
          </a:p>
          <a:p>
            <a:pPr>
              <a:spcAft>
                <a:spcPts val="700"/>
              </a:spcAft>
              <a:defRPr sz="1400">
                <a:solidFill>
                  <a:srgbClr val="1E2A26"/>
                </a:solidFill>
                <a:latin typeface="Aptos"/>
              </a:defRPr>
            </a:pPr>
            <a:r>
              <a:t>• Provides centralized plantation lifecycle management.</a:t>
            </a:r>
          </a:p>
          <a:p>
            <a:pPr>
              <a:spcAft>
                <a:spcPts val="700"/>
              </a:spcAft>
              <a:defRPr sz="1400">
                <a:solidFill>
                  <a:srgbClr val="1E2A26"/>
                </a:solidFill>
                <a:latin typeface="Aptos"/>
              </a:defRPr>
            </a:pPr>
            <a:r>
              <a:t>• Tracks planting, growth, maintenance, health, and harvest.</a:t>
            </a:r>
          </a:p>
          <a:p>
            <a:pPr>
              <a:spcAft>
                <a:spcPts val="700"/>
              </a:spcAft>
              <a:defRPr sz="1400">
                <a:solidFill>
                  <a:srgbClr val="1E2A26"/>
                </a:solidFill>
                <a:latin typeface="Aptos"/>
              </a:defRPr>
            </a:pPr>
            <a:r>
              <a:t>• Reduces manual work and improves data accessibility.</a:t>
            </a:r>
          </a:p>
          <a:p>
            <a:pPr>
              <a:spcAft>
                <a:spcPts val="700"/>
              </a:spcAft>
              <a:defRPr sz="1400">
                <a:solidFill>
                  <a:srgbClr val="1E2A26"/>
                </a:solidFill>
                <a:latin typeface="Aptos"/>
              </a:defRPr>
            </a:pPr>
            <a:r>
              <a:t>• Creates a foundation for smart and data-driven plantation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C6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789920" cy="594360"/>
          </a:xfrm>
          <a:prstGeom prst="rect">
            <a:avLst/>
          </a:prstGeom>
          <a:noFill/>
        </p:spPr>
        <p:txBody>
          <a:bodyPr wrap="none">
            <a:spAutoFit/>
          </a:bodyPr>
          <a:lstStyle/>
          <a:p>
            <a:pPr>
              <a:defRPr sz="2900" b="1">
                <a:solidFill>
                  <a:srgbClr val="1E2A26"/>
                </a:solidFill>
                <a:latin typeface="Aptos Display"/>
              </a:defRPr>
            </a:pPr>
            <a:r>
              <a:t>Abstract</a:t>
            </a:r>
          </a:p>
        </p:txBody>
      </p:sp>
      <p:sp>
        <p:nvSpPr>
          <p:cNvPr id="5" name="Rounded Rectangle 4"/>
          <p:cNvSpPr/>
          <p:nvPr/>
        </p:nvSpPr>
        <p:spPr>
          <a:xfrm>
            <a:off x="731520" y="1325880"/>
            <a:ext cx="10744200" cy="4434840"/>
          </a:xfrm>
          <a:prstGeom prst="roundRect">
            <a:avLst/>
          </a:prstGeom>
          <a:solidFill>
            <a:srgbClr val="F8FAF7"/>
          </a:solidFill>
          <a:ln>
            <a:solidFill>
              <a:srgbClr val="CC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645920"/>
            <a:ext cx="10058400" cy="3794760"/>
          </a:xfrm>
          <a:prstGeom prst="rect">
            <a:avLst/>
          </a:prstGeom>
          <a:noFill/>
        </p:spPr>
        <p:txBody>
          <a:bodyPr wrap="square">
            <a:spAutoFit/>
          </a:bodyPr>
          <a:lstStyle/>
          <a:p>
            <a:pPr>
              <a:spcAft>
                <a:spcPts val="1200"/>
              </a:spcAft>
              <a:defRPr sz="1550">
                <a:solidFill>
                  <a:srgbClr val="1E2A26"/>
                </a:solidFill>
                <a:latin typeface="Aptos"/>
              </a:defRPr>
            </a:pPr>
            <a:r>
              <a:t>Plantation Tracking System is a web-based application designed to digitally manage and monitor plantations throughout their complete lifecycle. The system allows users to register plantation details such as plant name, variety, planting date, location, and quantity.</a:t>
            </a:r>
          </a:p>
          <a:p>
            <a:pPr>
              <a:spcAft>
                <a:spcPts val="1200"/>
              </a:spcAft>
              <a:defRPr sz="1550">
                <a:solidFill>
                  <a:srgbClr val="1E2A26"/>
                </a:solidFill>
                <a:latin typeface="Aptos"/>
              </a:defRPr>
            </a:pPr>
            <a:r>
              <a:t>It also tracks plant growth, watering, fertilizer application, maintenance activities, diseases, treatments, and harvest information.</a:t>
            </a:r>
          </a:p>
          <a:p>
            <a:pPr>
              <a:spcAft>
                <a:spcPts val="1200"/>
              </a:spcAft>
              <a:defRPr sz="1550">
                <a:solidFill>
                  <a:srgbClr val="1E2A26"/>
                </a:solidFill>
                <a:latin typeface="Aptos"/>
              </a:defRPr>
            </a:pPr>
            <a:r>
              <a:t>The system uses Angular for the frontend, Java Spring Boot for the backend, REST APIs for communication, and MySQL for data storage. By maintaining plantation information in a centralized database, the system reduces manual record keeping and makes plantation history easier to access and manage.</a:t>
            </a:r>
          </a:p>
          <a:p>
            <a:pPr>
              <a:spcAft>
                <a:spcPts val="1200"/>
              </a:spcAft>
              <a:defRPr sz="1550">
                <a:solidFill>
                  <a:srgbClr val="1E2A26"/>
                </a:solidFill>
                <a:latin typeface="Aptos"/>
              </a:defRPr>
            </a:pPr>
            <a:r>
              <a:t>The system can be further enhanced with IoT sensors, weather APIs, GPS, mobile applications, and AI-based disease detection.</a:t>
            </a:r>
          </a:p>
        </p:txBody>
      </p:sp>
      <p:sp>
        <p:nvSpPr>
          <p:cNvPr id="7" name="TextBox 6"/>
          <p:cNvSpPr txBox="1"/>
          <p:nvPr/>
        </p:nvSpPr>
        <p:spPr>
          <a:xfrm>
            <a:off x="11064240" y="6419088"/>
            <a:ext cx="502920" cy="228600"/>
          </a:xfrm>
          <a:prstGeom prst="rect">
            <a:avLst/>
          </a:prstGeom>
          <a:noFill/>
        </p:spPr>
        <p:txBody>
          <a:bodyPr wrap="none">
            <a:spAutoFit/>
          </a:bodyPr>
          <a:lstStyle/>
          <a:p>
            <a:pPr algn="r">
              <a:defRPr sz="900">
                <a:solidFill>
                  <a:srgbClr val="5D6C65"/>
                </a:solidFill>
                <a:latin typeface="Aptos"/>
              </a:defRPr>
            </a:pPr>
            <a:r>
              <a: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